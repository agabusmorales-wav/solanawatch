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07C41"/>
                </a:solidFill>
                <a:latin typeface="Arial"/>
              </a:defRPr>
            </a:pPr>
            <a:r>
              <a:t>SOLANAWATCH</a:t>
            </a:r>
          </a:p>
          <a:p>
            <a:pPr algn="ctr">
              <a:defRPr sz="1800">
                <a:solidFill>
                  <a:srgbClr val="0F172A"/>
                </a:solidFill>
                <a:latin typeface="Arial"/>
              </a:defRPr>
            </a:pPr>
            <a:r>
              <a:t>An IoT-Based Disease Early Warning System for Soil-Grown Solanaceae Crops</a:t>
            </a:r>
          </a:p>
          <a:p>
            <a:pPr>
              <a:defRPr sz="1400"/>
            </a:pPr>
          </a:p>
          <a:p>
            <a:pPr algn="ctr">
              <a:defRPr sz="1300" b="1">
                <a:solidFill>
                  <a:srgbClr val="0284C7"/>
                </a:solidFill>
                <a:latin typeface="Arial"/>
              </a:defRPr>
            </a:pPr>
            <a:r>
              <a:t>Capstone 5-Minute Progress &amp; Technical Briefing</a:t>
            </a:r>
          </a:p>
          <a:p>
            <a:pPr algn="ctr">
              <a:defRPr sz="1200">
                <a:solidFill>
                  <a:srgbClr val="334155"/>
                </a:solidFill>
                <a:latin typeface="Arial"/>
              </a:defRPr>
            </a:pPr>
            <a:r>
              <a:t>Team: Simeon Agabus S. Morales • Raven M. Rapada • Andrei S. Hernandez • Vince Angelo Eugenio</a:t>
            </a:r>
          </a:p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Project Adviser: Prof. Eugenia R. Zhuo, DIT | UST College of Information and Computing Sciences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  <a:latin typeface="Arial"/>
              </a:defRPr>
            </a:pPr>
            <a:r>
              <a:t>SECTION 1 •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Problem formulation with literature citations, proposed IoT solution, and core objectives.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457200"/>
            <a:ext cx="137160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7C41"/>
                </a:solidFill>
                <a:latin typeface="Arial"/>
              </a:defRPr>
            </a:pPr>
            <a:r>
              <a:t>⏱️ 1 MINUTE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28416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2962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1. The Problem (Sources)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962656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High Economic Stakes (PSA, 2026; Aquino et al., 2024):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Solanaceae crops (Eggplant &gt;100,000 MT/quarter; Tomato 70k-93k MT) are crucial to Philippine food security.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Devastating Yield Losses (50%–90%):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Aumentado &amp; Balendres (2024); Subedi et al. (2024): Caused by Late Blight (P. infestans) and Bacterial Wilt (R. pseudosolanacearum).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Microclimatic Infection Drivers: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Late Blight: RH ≥90%, leaf wetness ≥10h, 12°C–22°C (Mazumdar et al., 2021; Boulton et al., 2023).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Bacterial Wilt: Warm soil 28°C–35°C &amp; moisture ≥75% VWC (Silva et al., 2024; Jiang et al., 2021).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Current Gap (Jafar et al., 2024):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Computer vision AI only detects diseases POST-SYMPTOMATICALLY after irreversible tissue necrosis has occurred.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508760"/>
            <a:ext cx="3328416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673352"/>
            <a:ext cx="2962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7C41"/>
                </a:solidFill>
                <a:latin typeface="Arial"/>
              </a:defRPr>
            </a:pPr>
            <a:r>
              <a:t>2. 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03120"/>
            <a:ext cx="2962656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Autonomous Solar IoT Edge Node: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• Field-deployed station monitoring real-time atmospheric, foliar, and root-zone microclimate data continuously.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Pre-Symptomatic Early Warning: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• Unlike reactive camera AI, SolanaWatch analyzes physical environmental risk drivers BEFORE symptoms physically manifest.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Dual Validated Pathogen Modeling: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• Evaluates Late Blight Wallin Severity Values (SV) &amp; Bacterial Wilt Hydrothermal Soil Risk Index.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Smallholder Farmer Accessibility: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• Built on low-cost open hardware (₱7,208 BOM) with offline MicroSD buffering to survive frequent field power/Wi-Fi outages.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08760"/>
            <a:ext cx="3328416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673352"/>
            <a:ext cx="2962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3. Project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103120"/>
            <a:ext cx="2962656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General Objective: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• Design and develop SolanaWatch, an IoT-based disease early warning system for soil-grown Solanaceae crops.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Specific Objective 1: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• Deploy a multi-sensor edge node capturing air temp/RH, root-zone temp/moisture, and dielectric leaf wetness duration.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Specific Objective 2: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• Implement dual pathology-grounded disease risk scoring algorithms on a centralized cloud backend.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Specific Objective 3: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• Deliver responsive PC/mobile dashboards with actionable agronomic recommendations and offline data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  <a:latin typeface="Arial"/>
              </a:defRPr>
            </a:pPr>
            <a:r>
              <a:t>SECTION 2 •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2. Development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Original planned features, completed deliverables, and quantified workstream status.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457200"/>
            <a:ext cx="137160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7C41"/>
                </a:solidFill>
                <a:latin typeface="Arial"/>
              </a:defRPr>
            </a:pPr>
            <a:r>
              <a:t>⏱️ 2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9319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1. Planned Features &amp;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566160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Multi-Sensor Edge Telemetry:</a:t>
            </a:r>
          </a:p>
          <a:p>
            <a:pPr>
              <a:spcAft>
                <a:spcPts val="3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Ambient (DHT22), Subsurface (DS18B20 + Capacitive v1.2), Foliar (RS485 Dielectric Leaf Grid).</a:t>
            </a:r>
          </a:p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Autonomous Solar-Battery Power:</a:t>
            </a:r>
          </a:p>
          <a:p>
            <a:pPr>
              <a:spcAft>
                <a:spcPts val="3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20W Solar PV + MPPT controller + 12.8V LiFePO4 battery providing 47 days of zero-sunlight runtime.</a:t>
            </a:r>
          </a:p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Offline Fail-Safe Edge Storage:</a:t>
            </a:r>
          </a:p>
          <a:p>
            <a:pPr>
              <a:spcAft>
                <a:spcPts val="3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Local MicroSD FIFO JSON Lines buffer for zero telemetry loss during rural network dropouts.</a:t>
            </a:r>
          </a:p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Cloud Ingestion &amp; Analytics API:</a:t>
            </a:r>
          </a:p>
          <a:p>
            <a:pPr>
              <a:spcAft>
                <a:spcPts val="3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Node.js REST API with Turso libSQL database and automated disease risk classification engine.</a:t>
            </a:r>
          </a:p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Bilingual Decision Support Dashboards:</a:t>
            </a:r>
          </a:p>
          <a:p>
            <a:pPr>
              <a:spcAft>
                <a:spcPts val="3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Web PC and mobile interfaces with real-time gauges, time-series charts, and preventive recommendations.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508760"/>
            <a:ext cx="39319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73352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7C41"/>
                </a:solidFill>
                <a:latin typeface="Arial"/>
              </a:defRPr>
            </a:pPr>
            <a:r>
              <a:t>2. Completed 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03120"/>
            <a:ext cx="3566160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✅ 100% Hardware Procurement (₱7,208 BOM):</a:t>
            </a:r>
          </a:p>
          <a:p>
            <a:pPr>
              <a:spcAft>
                <a:spcPts val="3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Full bill of materials acquired and in-hand: ESP32, all 5 sensors, solar PV, MPPT, battery, and IP66 box.</a:t>
            </a:r>
          </a:p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✅ Physical Circuit Bench Bring-Up Active:</a:t>
            </a:r>
          </a:p>
          <a:p>
            <a:pPr>
              <a:spcAft>
                <a:spcPts val="3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Breadboard harness wired; dual 5V/3.3V isolated power rails verified; initial 1-Wire &amp; ADC signals logged.</a:t>
            </a:r>
          </a:p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✅ Functional Frontend Dashboards Built:</a:t>
            </a:r>
          </a:p>
          <a:p>
            <a:pPr>
              <a:spcAft>
                <a:spcPts val="3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PC Dashboard (desktop.html) &amp; iOS Mobile App (index.html) completed with live gauges and risk banners.</a:t>
            </a:r>
          </a:p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✅ UST Institutional Ethics Review Accomplished:</a:t>
            </a:r>
          </a:p>
          <a:p>
            <a:pPr>
              <a:spcAft>
                <a:spcPts val="3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Forms 4.2 &amp; 7.2 submitted, establishing human &amp; biological pathogen safety exemptions.</a:t>
            </a:r>
          </a:p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✅ Proposal Manuscript Alignment Completed:</a:t>
            </a:r>
          </a:p>
          <a:p>
            <a:pPr>
              <a:spcAft>
                <a:spcPts val="3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Addressed all 24 panel defense evaluation comments across Chapters 1, 2, and 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508760"/>
            <a:ext cx="249905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673352"/>
            <a:ext cx="2133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97706"/>
                </a:solidFill>
                <a:latin typeface="Arial"/>
              </a:defRPr>
            </a:pPr>
            <a:r>
              <a:t>3. Status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03120"/>
            <a:ext cx="2133295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Hardware Procurement:</a:t>
            </a:r>
          </a:p>
          <a:p>
            <a:pPr>
              <a:spcAft>
                <a:spcPts val="200"/>
              </a:spcAft>
              <a:defRPr sz="1000" b="0">
                <a:solidFill>
                  <a:srgbClr val="107C41"/>
                </a:solidFill>
                <a:latin typeface="Arial"/>
              </a:defRPr>
            </a:pPr>
            <a:r>
              <a:t>100% COMPLETE (In-Hand)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Research &amp; Ethics:</a:t>
            </a:r>
          </a:p>
          <a:p>
            <a:pPr>
              <a:spcAft>
                <a:spcPts val="200"/>
              </a:spcAft>
              <a:defRPr sz="1000" b="0">
                <a:solidFill>
                  <a:srgbClr val="107C41"/>
                </a:solidFill>
                <a:latin typeface="Arial"/>
              </a:defRPr>
            </a:pPr>
            <a:r>
              <a:t>100% COMPLETE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UI Dashboards (Web/App):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90% ADVANCED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Cloud API &amp; Database: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65% IN-PROGRESS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Firmware &amp; Circuit Assembly: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60% BENCH BRING-UP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Bench Calibration &amp; Field Tests: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30% SCHEDULED NEXT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OVERALL PROJECT STATUS:</a:t>
            </a:r>
          </a:p>
          <a:p>
            <a:pPr>
              <a:spcAft>
                <a:spcPts val="200"/>
              </a:spcAft>
              <a:defRPr sz="1000" b="0">
                <a:solidFill>
                  <a:srgbClr val="107C41"/>
                </a:solidFill>
                <a:latin typeface="Arial"/>
              </a:defRPr>
            </a:pPr>
            <a:r>
              <a:t>● ~75% (ON TRACK)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  <a:latin typeface="Arial"/>
              </a:defRPr>
            </a:pPr>
            <a:r>
              <a:t>SECTION 3 •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3. Prototype Architecture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3-Tier system topology, sensor hardware integration, and end-to-end data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457200"/>
            <a:ext cx="137160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7C41"/>
                </a:solidFill>
                <a:latin typeface="Arial"/>
              </a:defRPr>
            </a:pPr>
            <a:r>
              <a:t>⏱️ 2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28416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2962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1. 3-Tier 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962656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Tier 1: Sensing &amp; Edge Node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ESP32 DevKit V1 (Xtensa Dual-Core 240MHz, 4MB Flash).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FreeRTOS Core 1 dedicated to sensor polling.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Local SPI MicroSD FIFO buffer (telemetry_buffer.jsonl).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20W Solar PV + MPPT + 12.8V LiFePO4 battery (47-day autonomy).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Tier 2: Cloud Ingestion &amp; Analytics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Node.js &amp; Express REST API receiving JSON payloads.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Turso Cloud Database (Distributed libSQL / SQLite).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Deduplication via composite UNIQUE(node_id, recorded_at).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Tier 3: Presentation &amp; Decision Support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High-density PC Dashboard &amp; iOS Mobile Interface.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Color-coded alert banners (Green / Yellow / Red).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Contextual agronomic recommendations (drainage, aeration).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508760"/>
            <a:ext cx="3328416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673352"/>
            <a:ext cx="2962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7C41"/>
                </a:solidFill>
                <a:latin typeface="Arial"/>
              </a:defRPr>
            </a:pPr>
            <a:r>
              <a:t>2. Hardware / Software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03120"/>
            <a:ext cx="2962656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Atmospheric Sensing: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DHT22 / AM2302 placed inside a UV-stabilized louvered Stevenson Radiation Screen (measures ambient temp &amp; RH).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Root-Zone Subsurface Sensing: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Dallas DS18B20 stainless waterproof probe (1-Wire bus) @ 10 cm depth for root temperature.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Capacitive v1.2 corrosion-resistant probe (analog ADC) @ 10 cm depth for volumetric soil moisture.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Foliar Surface Sensing: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Industrial IP68 dielectric leaf wetness grid over RS485 Modbus-RTU via MAX485 transceiver.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Software Stack: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Firmware: C++ / FreeRTOS on PlatformIO.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Backend: Node.js, Express, Turso libSQL.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Frontend: HTML5, Tailwind CSS, Chart.js.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08760"/>
            <a:ext cx="3328416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673352"/>
            <a:ext cx="2962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3. End-to-End Data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103120"/>
            <a:ext cx="2962656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80" b="1">
                <a:solidFill>
                  <a:srgbClr val="0F172A"/>
                </a:solidFill>
                <a:latin typeface="Arial"/>
              </a:defRPr>
            </a:pPr>
            <a:r>
              <a:t>Step 1: Multi-Sensor Sampling</a:t>
            </a:r>
          </a:p>
          <a:p>
            <a:pPr>
              <a:spcAft>
                <a:spcPts val="200"/>
              </a:spcAft>
              <a:defRPr sz="980" b="0">
                <a:solidFill>
                  <a:srgbClr val="334155"/>
                </a:solidFill>
                <a:latin typeface="Arial"/>
              </a:defRPr>
            </a:pPr>
            <a:r>
              <a:t>• FreeRTOS Core 1 wakes every 15 min; samples all 5 sensors across 1-Wire, ADC, and Modbus buses.</a:t>
            </a:r>
          </a:p>
          <a:p>
            <a:pPr>
              <a:spcAft>
                <a:spcPts val="200"/>
              </a:spcAft>
              <a:defRPr sz="980" b="1">
                <a:solidFill>
                  <a:srgbClr val="0F172A"/>
                </a:solidFill>
                <a:latin typeface="Arial"/>
              </a:defRPr>
            </a:pPr>
            <a:r>
              <a:t>Step 2: Local Edge Buffering</a:t>
            </a:r>
          </a:p>
          <a:p>
            <a:pPr>
              <a:spcAft>
                <a:spcPts val="200"/>
              </a:spcAft>
              <a:defRPr sz="980" b="0">
                <a:solidFill>
                  <a:srgbClr val="334155"/>
                </a:solidFill>
                <a:latin typeface="Arial"/>
              </a:defRPr>
            </a:pPr>
            <a:r>
              <a:t>• Immediately appends telemetry JSON to MicroSD card to guarantee zero data loss if Wi-Fi fails.</a:t>
            </a:r>
          </a:p>
          <a:p>
            <a:pPr>
              <a:spcAft>
                <a:spcPts val="200"/>
              </a:spcAft>
              <a:defRPr sz="980" b="1">
                <a:solidFill>
                  <a:srgbClr val="0F172A"/>
                </a:solidFill>
                <a:latin typeface="Arial"/>
              </a:defRPr>
            </a:pPr>
            <a:r>
              <a:t>Step 3: Secure Wi-Fi Transmission</a:t>
            </a:r>
          </a:p>
          <a:p>
            <a:pPr>
              <a:spcAft>
                <a:spcPts val="200"/>
              </a:spcAft>
              <a:defRPr sz="980" b="0">
                <a:solidFill>
                  <a:srgbClr val="334155"/>
                </a:solidFill>
                <a:latin typeface="Arial"/>
              </a:defRPr>
            </a:pPr>
            <a:r>
              <a:t>• FreeRTOS Core 0 enables 2.4GHz Wi-Fi; dispatches HTTP POST /api/telemetry to cloud API.</a:t>
            </a:r>
          </a:p>
          <a:p>
            <a:pPr>
              <a:spcAft>
                <a:spcPts val="200"/>
              </a:spcAft>
              <a:defRPr sz="980" b="1">
                <a:solidFill>
                  <a:srgbClr val="0F172A"/>
                </a:solidFill>
                <a:latin typeface="Arial"/>
              </a:defRPr>
            </a:pPr>
            <a:r>
              <a:t>Step 4: Cloud Disease Risk Scoring</a:t>
            </a:r>
          </a:p>
          <a:p>
            <a:pPr>
              <a:spcAft>
                <a:spcPts val="200"/>
              </a:spcAft>
              <a:defRPr sz="980" b="0">
                <a:solidFill>
                  <a:srgbClr val="334155"/>
                </a:solidFill>
                <a:latin typeface="Arial"/>
              </a:defRPr>
            </a:pPr>
            <a:r>
              <a:t>• Late Blight: Evaluates Wallin Severity Values (SV) at Leaf Wetness Duration ≥ 10h and 12°C–22°C.</a:t>
            </a:r>
          </a:p>
          <a:p>
            <a:pPr>
              <a:spcAft>
                <a:spcPts val="200"/>
              </a:spcAft>
              <a:defRPr sz="980" b="0">
                <a:solidFill>
                  <a:srgbClr val="334155"/>
                </a:solidFill>
                <a:latin typeface="Arial"/>
              </a:defRPr>
            </a:pPr>
            <a:r>
              <a:t>• Bacterial Wilt: Calculates Hydrothermal Index: R_BW = 0.50*S_ST + 0.50*S_SM (temp 28–35°C, moisture ≥75%).</a:t>
            </a:r>
          </a:p>
          <a:p>
            <a:pPr>
              <a:spcAft>
                <a:spcPts val="200"/>
              </a:spcAft>
              <a:defRPr sz="980" b="1">
                <a:solidFill>
                  <a:srgbClr val="0F172A"/>
                </a:solidFill>
                <a:latin typeface="Arial"/>
              </a:defRPr>
            </a:pPr>
            <a:r>
              <a:t>Step 5: Alert Delivery &amp; Action</a:t>
            </a:r>
          </a:p>
          <a:p>
            <a:pPr>
              <a:spcAft>
                <a:spcPts val="200"/>
              </a:spcAft>
              <a:defRPr sz="980" b="0">
                <a:solidFill>
                  <a:srgbClr val="334155"/>
                </a:solidFill>
                <a:latin typeface="Arial"/>
              </a:defRPr>
            </a:pPr>
            <a:r>
              <a:t>• Pushes immediate status and cultural interventions directly to farmers'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  <a:latin typeface="Arial"/>
              </a:defRPr>
            </a:pPr>
            <a:r>
              <a:t>SECTION 4 • ROAD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Summary &amp; Next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Current accomplishments, target sprint deliverables, and panel defense readiness.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457200"/>
            <a:ext cx="137160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7C41"/>
                </a:solidFill>
                <a:latin typeface="Arial"/>
              </a:defRPr>
            </a:pPr>
            <a:r>
              <a:t>Q &amp;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28416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2962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7C41"/>
                </a:solidFill>
                <a:latin typeface="Arial"/>
              </a:defRPr>
            </a:pPr>
            <a:r>
              <a:t>Current 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962656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Hardware Foundation Solid: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• 100% of physical parts procured under budget (₱7,208 total).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Software Readiness: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• Interactive dashboards built and ready for telemetry ingestion.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Institutional Compliance: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• UST Ethics Review accomplished and manuscript fully coordinated with adviser directives.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508760"/>
            <a:ext cx="3328416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673352"/>
            <a:ext cx="2962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97706"/>
                </a:solidFill>
                <a:latin typeface="Arial"/>
              </a:defRPr>
            </a:pPr>
            <a:r>
              <a:t>Immediate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03120"/>
            <a:ext cx="2962656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1. Multi-Sensor Bench Calibration: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• Ice-point (0.0°C), NaCl salt chamber (75.3% RH), and 2-point soil calibration (0% and 100% VWC).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2. FreeRTOS Dual-Core Firmware: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• Finalize non-blocking sensor sampling routines and automatic MicroSD buffer catch-up sync.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3. Enclosure Packaging: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• Assemble IP66 weatherproof box with cable gland drip loops and field test power draw.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08760"/>
            <a:ext cx="3328416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673352"/>
            <a:ext cx="2962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Defense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103120"/>
            <a:ext cx="2962656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Thank You!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SolanaWatch is on track to deliver an affordable, pre-symptomatic disease early warning system for Filipino Solanaceae farmers.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Adviser: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Prof. Eugenia R. Zhuo, DIT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Panelists:</a:t>
            </a:r>
          </a:p>
          <a:p>
            <a:pPr>
              <a:spcAft>
                <a:spcPts val="400"/>
              </a:spcAft>
              <a:defRPr sz="1100" b="0">
                <a:solidFill>
                  <a:srgbClr val="334155"/>
                </a:solidFill>
                <a:latin typeface="Arial"/>
              </a:defRPr>
            </a:pPr>
            <a:r>
              <a:t>Inst. Gabriel Emanuel D. Montano</a:t>
            </a:r>
            <a:br/>
            <a:r>
              <a:t>Prof. Noel E. Estrella</a:t>
            </a:r>
            <a:br/>
            <a:r>
              <a:t>Mr. Karlo Angelo Tino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Now Open for Panel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