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none">
            <a:spAutoFit/>
          </a:bodyPr>
          <a:lstStyle/>
          <a:p>
            <a:pPr>
              <a:defRPr sz="1300" b="1">
                <a:solidFill>
                  <a:srgbClr val="0284C7"/>
                </a:solidFill>
                <a:latin typeface="Arial"/>
              </a:defRPr>
            </a:pPr>
            <a:r>
              <a:t>SOLANAWATCH • IOT-BASED DISEASE EARLY WARNING SYSTEM</a:t>
            </a:r>
          </a:p>
        </p:txBody>
      </p:sp>
      <p:sp>
        <p:nvSpPr>
          <p:cNvPr id="4" name="TextBox 3"/>
          <p:cNvSpPr txBox="1"/>
          <p:nvPr/>
        </p:nvSpPr>
        <p:spPr>
          <a:xfrm>
            <a:off x="731520" y="621792"/>
            <a:ext cx="8412480" cy="868680"/>
          </a:xfrm>
          <a:prstGeom prst="rect">
            <a:avLst/>
          </a:prstGeom>
          <a:noFill/>
        </p:spPr>
        <p:txBody>
          <a:bodyPr wrap="square">
            <a:spAutoFit/>
          </a:bodyPr>
          <a:lstStyle/>
          <a:p>
            <a:pPr>
              <a:defRPr sz="2400" b="1">
                <a:solidFill>
                  <a:srgbClr val="0F172A"/>
                </a:solidFill>
                <a:latin typeface="Arial"/>
              </a:defRPr>
            </a:pPr>
            <a:r>
              <a:t>SOLANAWATCH  |  WEEKLY PROGRESS REPORT</a:t>
            </a:r>
          </a:p>
          <a:p>
            <a:pPr>
              <a:defRPr sz="1400" b="1">
                <a:solidFill>
                  <a:srgbClr val="475569"/>
                </a:solidFill>
                <a:latin typeface="Arial"/>
              </a:defRPr>
            </a:pPr>
            <a:r>
              <a:t>SURFER BROS  •  Group 1 (3ITC)  •  Special Term, A/Y 2025–2026</a:t>
            </a:r>
          </a:p>
        </p:txBody>
      </p:sp>
      <p:sp>
        <p:nvSpPr>
          <p:cNvPr id="5" name="Rounded Rectangle 4"/>
          <p:cNvSpPr/>
          <p:nvPr/>
        </p:nvSpPr>
        <p:spPr>
          <a:xfrm>
            <a:off x="9601200" y="594360"/>
            <a:ext cx="1828800" cy="50292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A34A"/>
                </a:solidFill>
                <a:latin typeface="Arial"/>
              </a:defRPr>
            </a:pPr>
            <a:r>
              <a:t>● STATUS: ON TRACK</a:t>
            </a:r>
          </a:p>
        </p:txBody>
      </p:sp>
      <p:sp>
        <p:nvSpPr>
          <p:cNvPr id="6" name="Rectangle 5"/>
          <p:cNvSpPr/>
          <p:nvPr/>
        </p:nvSpPr>
        <p:spPr>
          <a:xfrm>
            <a:off x="731520" y="1536192"/>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91640"/>
            <a:ext cx="3401568" cy="4343400"/>
          </a:xfrm>
          <a:prstGeom prst="roundRect">
            <a:avLst/>
          </a:prstGeom>
          <a:solidFill>
            <a:srgbClr val="F8FAFC"/>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1856232"/>
            <a:ext cx="3072384" cy="502920"/>
          </a:xfrm>
          <a:prstGeom prst="roundRect">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284C7"/>
                </a:solidFill>
                <a:latin typeface="Arial"/>
              </a:defRPr>
            </a:pPr>
            <a:r>
              <a:t>CURRENT TASKS:</a:t>
            </a:r>
          </a:p>
        </p:txBody>
      </p:sp>
      <p:sp>
        <p:nvSpPr>
          <p:cNvPr id="9" name="TextBox 8"/>
          <p:cNvSpPr txBox="1"/>
          <p:nvPr/>
        </p:nvSpPr>
        <p:spPr>
          <a:xfrm>
            <a:off x="896112" y="2423160"/>
            <a:ext cx="3072384" cy="3520440"/>
          </a:xfrm>
          <a:prstGeom prst="rect">
            <a:avLst/>
          </a:prstGeom>
          <a:noFill/>
        </p:spPr>
        <p:txBody>
          <a:bodyPr wrap="square">
            <a:spAutoFit/>
          </a:bodyPr>
          <a:lstStyle/>
          <a:p>
            <a:pPr>
              <a:spcAft>
                <a:spcPts val="100"/>
              </a:spcAft>
              <a:defRPr sz="1150" b="1">
                <a:solidFill>
                  <a:srgbClr val="0F172A"/>
                </a:solidFill>
                <a:latin typeface="Arial"/>
              </a:defRPr>
            </a:pPr>
            <a:r>
              <a:t>• 100% Complete Materials Procurement</a:t>
            </a:r>
          </a:p>
          <a:p>
            <a:pPr>
              <a:spcAft>
                <a:spcPts val="700"/>
              </a:spcAft>
              <a:defRPr sz="980">
                <a:solidFill>
                  <a:srgbClr val="475569"/>
                </a:solidFill>
                <a:latin typeface="Arial"/>
              </a:defRPr>
            </a:pPr>
            <a:r>
              <a:t>Acquired full ₱7,208 Bill of Materials with all components on-hand: ESP32 DevKit V1, DHT22 with Stevenson shield, dual DS18B20 soil temp probes, Capacitive v1.2 moisture sensor, industrial IP68 RS485 dielectric leaf wetness grid, 20W solar PV, MPPT controller, 12.8V LiFePO4 battery (47-day autonomy), and IP66 enclosure.</a:t>
            </a:r>
          </a:p>
          <a:p>
            <a:pPr>
              <a:spcAft>
                <a:spcPts val="100"/>
              </a:spcAft>
              <a:defRPr sz="1150" b="1">
                <a:solidFill>
                  <a:srgbClr val="0F172A"/>
                </a:solidFill>
                <a:latin typeface="Arial"/>
              </a:defRPr>
            </a:pPr>
            <a:r>
              <a:t>• Physical Circuit Bring-Up</a:t>
            </a:r>
          </a:p>
          <a:p>
            <a:pPr>
              <a:spcAft>
                <a:spcPts val="700"/>
              </a:spcAft>
              <a:defRPr sz="980">
                <a:solidFill>
                  <a:srgbClr val="475569"/>
                </a:solidFill>
                <a:latin typeface="Arial"/>
              </a:defRPr>
            </a:pPr>
            <a:r>
              <a:t>Started breadboard layout, pin mapping, and isolated dual 5V/3.3V power rails. Verified initial 1-Wire, ADC, and RS485 communication lines.</a:t>
            </a:r>
          </a:p>
          <a:p>
            <a:pPr>
              <a:spcAft>
                <a:spcPts val="100"/>
              </a:spcAft>
              <a:defRPr sz="1150" b="1">
                <a:solidFill>
                  <a:srgbClr val="0F172A"/>
                </a:solidFill>
                <a:latin typeface="Arial"/>
              </a:defRPr>
            </a:pPr>
            <a:r>
              <a:t>• Interactive UI Dashboards</a:t>
            </a:r>
          </a:p>
          <a:p>
            <a:pPr>
              <a:spcAft>
                <a:spcPts val="700"/>
              </a:spcAft>
              <a:defRPr sz="980">
                <a:solidFill>
                  <a:srgbClr val="475569"/>
                </a:solidFill>
                <a:latin typeface="Arial"/>
              </a:defRPr>
            </a:pPr>
            <a:r>
              <a:t>Completed functional PC Web Dashboard and iOS mobile views featuring live microclimate gauges, disease risk calculation, and actionable cultural alerts.</a:t>
            </a:r>
          </a:p>
          <a:p>
            <a:pPr>
              <a:spcAft>
                <a:spcPts val="100"/>
              </a:spcAft>
              <a:defRPr sz="1150" b="1">
                <a:solidFill>
                  <a:srgbClr val="0F172A"/>
                </a:solidFill>
                <a:latin typeface="Arial"/>
              </a:defRPr>
            </a:pPr>
            <a:r>
              <a:t>• Ethics Clearance Accomplished</a:t>
            </a:r>
          </a:p>
          <a:p>
            <a:pPr>
              <a:spcAft>
                <a:spcPts val="700"/>
              </a:spcAft>
              <a:defRPr sz="980">
                <a:solidFill>
                  <a:srgbClr val="475569"/>
                </a:solidFill>
                <a:latin typeface="Arial"/>
              </a:defRPr>
            </a:pPr>
            <a:r>
              <a:t>Completed UST Ethics Review Form 4.2 (Protocol Assessment) and Form 7.2 (Application for Ethics Review) for institutional compliance.</a:t>
            </a:r>
          </a:p>
        </p:txBody>
      </p:sp>
      <p:sp>
        <p:nvSpPr>
          <p:cNvPr id="10" name="Rounded Rectangle 9"/>
          <p:cNvSpPr/>
          <p:nvPr/>
        </p:nvSpPr>
        <p:spPr>
          <a:xfrm>
            <a:off x="4389120" y="1691640"/>
            <a:ext cx="3401568" cy="4343400"/>
          </a:xfrm>
          <a:prstGeom prst="roundRect">
            <a:avLst/>
          </a:prstGeom>
          <a:solidFill>
            <a:srgbClr val="F8FAFC"/>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53712" y="1856232"/>
            <a:ext cx="3072384" cy="50292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D97706"/>
                </a:solidFill>
                <a:latin typeface="Arial"/>
              </a:defRPr>
            </a:pPr>
            <a:r>
              <a:t>EXPECTED CHALLENGES:</a:t>
            </a:r>
          </a:p>
        </p:txBody>
      </p:sp>
      <p:sp>
        <p:nvSpPr>
          <p:cNvPr id="12" name="TextBox 11"/>
          <p:cNvSpPr txBox="1"/>
          <p:nvPr/>
        </p:nvSpPr>
        <p:spPr>
          <a:xfrm>
            <a:off x="4553712" y="2423160"/>
            <a:ext cx="3072384" cy="3520440"/>
          </a:xfrm>
          <a:prstGeom prst="rect">
            <a:avLst/>
          </a:prstGeom>
          <a:noFill/>
        </p:spPr>
        <p:txBody>
          <a:bodyPr wrap="square">
            <a:spAutoFit/>
          </a:bodyPr>
          <a:lstStyle/>
          <a:p>
            <a:pPr>
              <a:spcAft>
                <a:spcPts val="100"/>
              </a:spcAft>
              <a:defRPr sz="1150" b="1">
                <a:solidFill>
                  <a:srgbClr val="0F172A"/>
                </a:solidFill>
                <a:latin typeface="Arial"/>
              </a:defRPr>
            </a:pPr>
            <a:r>
              <a:t>• Mixed-Bus Signal Integrity</a:t>
            </a:r>
          </a:p>
          <a:p>
            <a:pPr>
              <a:spcAft>
                <a:spcPts val="700"/>
              </a:spcAft>
              <a:defRPr sz="980">
                <a:solidFill>
                  <a:srgbClr val="475569"/>
                </a:solidFill>
                <a:latin typeface="Arial"/>
              </a:defRPr>
            </a:pPr>
            <a:r>
              <a:t>Concurrent 1-Wire, analog ADC, and RS485 lines can cause electrical noise. Separated 5V logic and 3.3V sensor rails via dual buck converters; added 4.7kΩ pull-ups and line filters.</a:t>
            </a:r>
          </a:p>
          <a:p>
            <a:pPr>
              <a:spcAft>
                <a:spcPts val="100"/>
              </a:spcAft>
              <a:defRPr sz="1150" b="1">
                <a:solidFill>
                  <a:srgbClr val="0F172A"/>
                </a:solidFill>
                <a:latin typeface="Arial"/>
              </a:defRPr>
            </a:pPr>
            <a:r>
              <a:t>• RS485 Modbus-RTU Timing</a:t>
            </a:r>
          </a:p>
          <a:p>
            <a:pPr>
              <a:spcAft>
                <a:spcPts val="700"/>
              </a:spcAft>
              <a:defRPr sz="980">
                <a:solidFill>
                  <a:srgbClr val="475569"/>
                </a:solidFill>
                <a:latin typeface="Arial"/>
              </a:defRPr>
            </a:pPr>
            <a:r>
              <a:t>Potential timing contention between MAX485 switching and ESP32 Wi-Fi routines. Dedicated ESP32 Core 1 FreeRTOS task to sensor polling, isolating it from Core 0 network tasks.</a:t>
            </a:r>
          </a:p>
          <a:p>
            <a:pPr>
              <a:spcAft>
                <a:spcPts val="100"/>
              </a:spcAft>
              <a:defRPr sz="1150" b="1">
                <a:solidFill>
                  <a:srgbClr val="0F172A"/>
                </a:solidFill>
                <a:latin typeface="Arial"/>
              </a:defRPr>
            </a:pPr>
            <a:r>
              <a:t>• Two-Point Soil Calibration</a:t>
            </a:r>
          </a:p>
          <a:p>
            <a:pPr>
              <a:spcAft>
                <a:spcPts val="700"/>
              </a:spcAft>
              <a:defRPr sz="980">
                <a:solidFill>
                  <a:srgbClr val="475569"/>
                </a:solidFill>
                <a:latin typeface="Arial"/>
              </a:defRPr>
            </a:pPr>
            <a:r>
              <a:t>ADC variance across Philippine clay-loam Solanaceae soils. Calibrating in controlled oven-dry (0% VWC) and saturated (100% VWC) soil samples.</a:t>
            </a:r>
          </a:p>
        </p:txBody>
      </p:sp>
      <p:sp>
        <p:nvSpPr>
          <p:cNvPr id="13" name="Rounded Rectangle 12"/>
          <p:cNvSpPr/>
          <p:nvPr/>
        </p:nvSpPr>
        <p:spPr>
          <a:xfrm>
            <a:off x="8046720" y="1691640"/>
            <a:ext cx="3401568" cy="4343400"/>
          </a:xfrm>
          <a:prstGeom prst="roundRect">
            <a:avLst/>
          </a:prstGeom>
          <a:solidFill>
            <a:srgbClr val="F8FAFC"/>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11312" y="1856232"/>
            <a:ext cx="3072384" cy="50292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6A34A"/>
                </a:solidFill>
                <a:latin typeface="Arial"/>
              </a:defRPr>
            </a:pPr>
            <a:r>
              <a:t>PLAN FOR NEXT WEEK:</a:t>
            </a:r>
          </a:p>
        </p:txBody>
      </p:sp>
      <p:sp>
        <p:nvSpPr>
          <p:cNvPr id="15" name="TextBox 14"/>
          <p:cNvSpPr txBox="1"/>
          <p:nvPr/>
        </p:nvSpPr>
        <p:spPr>
          <a:xfrm>
            <a:off x="8211312" y="2423160"/>
            <a:ext cx="3072384" cy="3520440"/>
          </a:xfrm>
          <a:prstGeom prst="rect">
            <a:avLst/>
          </a:prstGeom>
          <a:noFill/>
        </p:spPr>
        <p:txBody>
          <a:bodyPr wrap="square">
            <a:spAutoFit/>
          </a:bodyPr>
          <a:lstStyle/>
          <a:p>
            <a:pPr>
              <a:spcAft>
                <a:spcPts val="100"/>
              </a:spcAft>
              <a:defRPr sz="1150" b="1">
                <a:solidFill>
                  <a:srgbClr val="0F172A"/>
                </a:solidFill>
                <a:latin typeface="Arial"/>
              </a:defRPr>
            </a:pPr>
            <a:r>
              <a:t>• Complete Circuit Assembly</a:t>
            </a:r>
          </a:p>
          <a:p>
            <a:pPr>
              <a:spcAft>
                <a:spcPts val="700"/>
              </a:spcAft>
              <a:defRPr sz="980">
                <a:solidFill>
                  <a:srgbClr val="475569"/>
                </a:solidFill>
                <a:latin typeface="Arial"/>
              </a:defRPr>
            </a:pPr>
            <a:r>
              <a:t>Finalize physical breadboard wiring harness connecting all 5 sensors to ESP32 and test power delivery from the 12.8V LiFePO4 battery pack.</a:t>
            </a:r>
          </a:p>
          <a:p>
            <a:pPr>
              <a:spcAft>
                <a:spcPts val="100"/>
              </a:spcAft>
              <a:defRPr sz="1150" b="1">
                <a:solidFill>
                  <a:srgbClr val="0F172A"/>
                </a:solidFill>
                <a:latin typeface="Arial"/>
              </a:defRPr>
            </a:pPr>
            <a:r>
              <a:t>• FreeRTOS Firmware Routines</a:t>
            </a:r>
          </a:p>
          <a:p>
            <a:pPr>
              <a:spcAft>
                <a:spcPts val="700"/>
              </a:spcAft>
              <a:defRPr sz="980">
                <a:solidFill>
                  <a:srgbClr val="475569"/>
                </a:solidFill>
                <a:latin typeface="Arial"/>
              </a:defRPr>
            </a:pPr>
            <a:r>
              <a:t>Implement multi-sensor sampling loops and offline FIFO MicroSD buffer (telemetry_buffer.jsonl) for zero-loss edge storage.</a:t>
            </a:r>
          </a:p>
          <a:p>
            <a:pPr>
              <a:spcAft>
                <a:spcPts val="100"/>
              </a:spcAft>
              <a:defRPr sz="1150" b="1">
                <a:solidFill>
                  <a:srgbClr val="0F172A"/>
                </a:solidFill>
                <a:latin typeface="Arial"/>
              </a:defRPr>
            </a:pPr>
            <a:r>
              <a:t>• Cloud Ingestion &amp; Risk Engine</a:t>
            </a:r>
          </a:p>
          <a:p>
            <a:pPr>
              <a:spcAft>
                <a:spcPts val="700"/>
              </a:spcAft>
              <a:defRPr sz="980">
                <a:solidFill>
                  <a:srgbClr val="475569"/>
                </a:solidFill>
                <a:latin typeface="Arial"/>
              </a:defRPr>
            </a:pPr>
            <a:r>
              <a:t>Connect Node.js/Express REST API to Turso libSQL cloud database and link Wallin SV and Hydrothermal risk models.</a:t>
            </a:r>
          </a:p>
          <a:p>
            <a:pPr>
              <a:spcAft>
                <a:spcPts val="100"/>
              </a:spcAft>
              <a:defRPr sz="1150" b="1">
                <a:solidFill>
                  <a:srgbClr val="0F172A"/>
                </a:solidFill>
                <a:latin typeface="Arial"/>
              </a:defRPr>
            </a:pPr>
            <a:r>
              <a:t>• Sensor Bench Calibration</a:t>
            </a:r>
          </a:p>
          <a:p>
            <a:pPr>
              <a:spcAft>
                <a:spcPts val="700"/>
              </a:spcAft>
              <a:defRPr sz="980">
                <a:solidFill>
                  <a:srgbClr val="475569"/>
                </a:solidFill>
                <a:latin typeface="Arial"/>
              </a:defRPr>
            </a:pPr>
            <a:r>
              <a:t>Execute ice-point (0.0°C) and NaCl humidity chamber (75.3% RH) calibration tests.</a:t>
            </a:r>
          </a:p>
        </p:txBody>
      </p:sp>
      <p:sp>
        <p:nvSpPr>
          <p:cNvPr id="16" name="TextBox 15"/>
          <p:cNvSpPr txBox="1"/>
          <p:nvPr/>
        </p:nvSpPr>
        <p:spPr>
          <a:xfrm>
            <a:off x="731520" y="6172200"/>
            <a:ext cx="10728655" cy="411480"/>
          </a:xfrm>
          <a:prstGeom prst="rect">
            <a:avLst/>
          </a:prstGeom>
          <a:noFill/>
        </p:spPr>
        <p:txBody>
          <a:bodyPr wrap="none">
            <a:spAutoFit/>
          </a:bodyPr>
          <a:lstStyle/>
          <a:p>
            <a:pPr>
              <a:defRPr sz="1150" b="1">
                <a:solidFill>
                  <a:srgbClr val="64748B"/>
                </a:solidFill>
                <a:latin typeface="Arial"/>
              </a:defRPr>
            </a:pPr>
            <a:r>
              <a:t>Team Members: Morales, Simeon Agabus S. • Rapada, Raven M. • Hernandez, Andrei S. • Eugenio, Vince Angelo  |  Adviser: Prof. Eugenia R. Zhuo, DIT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320040"/>
          </a:xfrm>
          <a:prstGeom prst="rect">
            <a:avLst/>
          </a:prstGeom>
          <a:noFill/>
        </p:spPr>
        <p:txBody>
          <a:bodyPr wrap="none">
            <a:spAutoFit/>
          </a:bodyPr>
          <a:lstStyle/>
          <a:p>
            <a:pPr>
              <a:defRPr sz="1300" b="1">
                <a:solidFill>
                  <a:srgbClr val="0284C7"/>
                </a:solidFill>
                <a:latin typeface="Arial"/>
              </a:defRPr>
            </a:pPr>
            <a:r>
              <a:t>SOLANAWATCH • HARDWARE SHOWCASE &amp; SYSTEM HIGHLIGHTS</a:t>
            </a:r>
          </a:p>
        </p:txBody>
      </p:sp>
      <p:sp>
        <p:nvSpPr>
          <p:cNvPr id="4" name="TextBox 3"/>
          <p:cNvSpPr txBox="1"/>
          <p:nvPr/>
        </p:nvSpPr>
        <p:spPr>
          <a:xfrm>
            <a:off x="731520" y="621792"/>
            <a:ext cx="8412480" cy="594360"/>
          </a:xfrm>
          <a:prstGeom prst="rect">
            <a:avLst/>
          </a:prstGeom>
          <a:noFill/>
        </p:spPr>
        <p:txBody>
          <a:bodyPr wrap="none">
            <a:spAutoFit/>
          </a:bodyPr>
          <a:lstStyle/>
          <a:p>
            <a:pPr>
              <a:defRPr sz="2400" b="1">
                <a:solidFill>
                  <a:srgbClr val="0F172A"/>
                </a:solidFill>
                <a:latin typeface="Arial"/>
              </a:defRPr>
            </a:pPr>
            <a:r>
              <a:t>Hardware Materials Inventory &amp; Working Application</a:t>
            </a:r>
          </a:p>
        </p:txBody>
      </p:sp>
      <p:sp>
        <p:nvSpPr>
          <p:cNvPr id="5" name="Rounded Rectangle 4"/>
          <p:cNvSpPr/>
          <p:nvPr/>
        </p:nvSpPr>
        <p:spPr>
          <a:xfrm>
            <a:off x="9326880" y="548640"/>
            <a:ext cx="2103120" cy="502920"/>
          </a:xfrm>
          <a:prstGeom prst="roundRect">
            <a:avLst/>
          </a:prstGeom>
          <a:solidFill>
            <a:srgbClr val="DCFCE7"/>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16A34A"/>
                </a:solidFill>
                <a:latin typeface="Arial"/>
              </a:defRPr>
            </a:pPr>
            <a:r>
              <a:t>● 100% MATERIALS IN-HAND</a:t>
            </a:r>
          </a:p>
        </p:txBody>
      </p:sp>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eb_dashboard_mockup.jpg"/>
          <p:cNvPicPr>
            <a:picLocks noChangeAspect="1"/>
          </p:cNvPicPr>
          <p:nvPr/>
        </p:nvPicPr>
        <p:blipFill>
          <a:blip r:embed="rId2"/>
          <a:stretch>
            <a:fillRect/>
          </a:stretch>
        </p:blipFill>
        <p:spPr>
          <a:xfrm>
            <a:off x="731520" y="1463040"/>
            <a:ext cx="6492240" cy="4480560"/>
          </a:xfrm>
          <a:prstGeom prst="rect">
            <a:avLst/>
          </a:prstGeom>
        </p:spPr>
      </p:pic>
      <p:sp>
        <p:nvSpPr>
          <p:cNvPr id="8" name="Rounded Rectangle 7"/>
          <p:cNvSpPr/>
          <p:nvPr/>
        </p:nvSpPr>
        <p:spPr>
          <a:xfrm>
            <a:off x="7452360" y="1463040"/>
            <a:ext cx="4007815" cy="4480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35240" y="1572768"/>
            <a:ext cx="3642055" cy="4251960"/>
          </a:xfrm>
          <a:prstGeom prst="rect">
            <a:avLst/>
          </a:prstGeom>
          <a:noFill/>
        </p:spPr>
        <p:txBody>
          <a:bodyPr wrap="square">
            <a:spAutoFit/>
          </a:bodyPr>
          <a:lstStyle/>
          <a:p>
            <a:pPr>
              <a:spcAft>
                <a:spcPts val="600"/>
              </a:spcAft>
              <a:defRPr sz="1550" b="1">
                <a:solidFill>
                  <a:srgbClr val="0284C7"/>
                </a:solidFill>
                <a:latin typeface="Arial"/>
              </a:defRPr>
            </a:pPr>
            <a:r>
              <a:t>Materials Inventory &amp; System Highlights</a:t>
            </a:r>
          </a:p>
          <a:p>
            <a:pPr>
              <a:spcAft>
                <a:spcPts val="100"/>
              </a:spcAft>
              <a:defRPr sz="1150" b="1">
                <a:solidFill>
                  <a:srgbClr val="0F172A"/>
                </a:solidFill>
                <a:latin typeface="Arial"/>
              </a:defRPr>
            </a:pPr>
            <a:r>
              <a:t>✔ 100% Complete Hardware Materials</a:t>
            </a:r>
          </a:p>
          <a:p>
            <a:pPr>
              <a:spcAft>
                <a:spcPts val="600"/>
              </a:spcAft>
              <a:defRPr sz="950">
                <a:solidFill>
                  <a:srgbClr val="475569"/>
                </a:solidFill>
                <a:latin typeface="Arial"/>
              </a:defRPr>
            </a:pPr>
            <a:r>
              <a:t>All components on-hand: ESP32 MCU, DHT22 in Stevenson shield, DS18B20 soil temp, Capacitive v1.2, IP68 RS485 leaf wetness grid, 20W PV, MPPT controller, and 12.8V LiFePO4 battery (47-day autonomy).</a:t>
            </a:r>
          </a:p>
          <a:p>
            <a:pPr>
              <a:spcAft>
                <a:spcPts val="100"/>
              </a:spcAft>
              <a:defRPr sz="1150" b="1">
                <a:solidFill>
                  <a:srgbClr val="0F172A"/>
                </a:solidFill>
                <a:latin typeface="Arial"/>
              </a:defRPr>
            </a:pPr>
            <a:r>
              <a:t>✔ Physical Circuit Bring-Up Initiated</a:t>
            </a:r>
          </a:p>
          <a:p>
            <a:pPr>
              <a:spcAft>
                <a:spcPts val="600"/>
              </a:spcAft>
              <a:defRPr sz="950">
                <a:solidFill>
                  <a:srgbClr val="475569"/>
                </a:solidFill>
                <a:latin typeface="Arial"/>
              </a:defRPr>
            </a:pPr>
            <a:r>
              <a:t>Breadboard layout, pin mapping, isolated 5V &amp; 3.3V power rails, and preliminary sensor communication checks actively progressing.</a:t>
            </a:r>
          </a:p>
          <a:p>
            <a:pPr>
              <a:spcAft>
                <a:spcPts val="100"/>
              </a:spcAft>
              <a:defRPr sz="1150" b="1">
                <a:solidFill>
                  <a:srgbClr val="0F172A"/>
                </a:solidFill>
                <a:latin typeface="Arial"/>
              </a:defRPr>
            </a:pPr>
            <a:r>
              <a:t>✔ Working Decision Support Dashboards</a:t>
            </a:r>
          </a:p>
          <a:p>
            <a:pPr>
              <a:spcAft>
                <a:spcPts val="600"/>
              </a:spcAft>
              <a:defRPr sz="950">
                <a:solidFill>
                  <a:srgbClr val="475569"/>
                </a:solidFill>
                <a:latin typeface="Arial"/>
              </a:defRPr>
            </a:pPr>
            <a:r>
              <a:t>Functional PC Web Dashboard (desktop.html) and iOS mobile view (index.html) featuring live 5-sensor gauges and disease alerts.</a:t>
            </a:r>
          </a:p>
          <a:p>
            <a:pPr>
              <a:spcAft>
                <a:spcPts val="100"/>
              </a:spcAft>
              <a:defRPr sz="1150" b="1">
                <a:solidFill>
                  <a:srgbClr val="0F172A"/>
                </a:solidFill>
                <a:latin typeface="Arial"/>
              </a:defRPr>
            </a:pPr>
            <a:r>
              <a:t>✔ Pre-Symptomatic Disease Risk Engine</a:t>
            </a:r>
          </a:p>
          <a:p>
            <a:pPr>
              <a:spcAft>
                <a:spcPts val="600"/>
              </a:spcAft>
              <a:defRPr sz="950">
                <a:solidFill>
                  <a:srgbClr val="475569"/>
                </a:solidFill>
                <a:latin typeface="Arial"/>
              </a:defRPr>
            </a:pPr>
            <a:r>
              <a:t>Embedded algorithms for Late Blight (Wallin Severity Values @ LWD &gt;= 10h) and Bacterial Wilt (Hydrothermal Soil Risk Index R_BW).</a:t>
            </a:r>
          </a:p>
          <a:p>
            <a:pPr>
              <a:spcAft>
                <a:spcPts val="100"/>
              </a:spcAft>
              <a:defRPr sz="1150" b="1">
                <a:solidFill>
                  <a:srgbClr val="0F172A"/>
                </a:solidFill>
                <a:latin typeface="Arial"/>
              </a:defRPr>
            </a:pPr>
            <a:r>
              <a:t>✔ Institutional Ethics Clearance Complete</a:t>
            </a:r>
          </a:p>
          <a:p>
            <a:pPr>
              <a:spcAft>
                <a:spcPts val="600"/>
              </a:spcAft>
              <a:defRPr sz="950">
                <a:solidFill>
                  <a:srgbClr val="475569"/>
                </a:solidFill>
                <a:latin typeface="Arial"/>
              </a:defRPr>
            </a:pPr>
            <a:r>
              <a:t>UST Form 4.2 &amp; Form 7.2 accomplished for research protocol compliance and participant safety.</a:t>
            </a:r>
          </a:p>
        </p:txBody>
      </p:sp>
      <p:sp>
        <p:nvSpPr>
          <p:cNvPr id="10" name="TextBox 9"/>
          <p:cNvSpPr txBox="1"/>
          <p:nvPr/>
        </p:nvSpPr>
        <p:spPr>
          <a:xfrm>
            <a:off x="731520" y="6172200"/>
            <a:ext cx="10728655" cy="411480"/>
          </a:xfrm>
          <a:prstGeom prst="rect">
            <a:avLst/>
          </a:prstGeom>
          <a:noFill/>
        </p:spPr>
        <p:txBody>
          <a:bodyPr wrap="none">
            <a:spAutoFit/>
          </a:bodyPr>
          <a:lstStyle/>
          <a:p>
            <a:pPr>
              <a:defRPr sz="1150" b="1">
                <a:solidFill>
                  <a:srgbClr val="64748B"/>
                </a:solidFill>
                <a:latin typeface="Arial"/>
              </a:defRPr>
            </a:pPr>
            <a:r>
              <a:t>SolanaWatch: An IoT-Based Disease Early Warning System for Soil-Grown Solanaceae Crops  |  Interactive Prototype: SolanaWatch_PC_Dashboard.html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